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336C"/>
    <a:srgbClr val="2C4373"/>
    <a:srgbClr val="EEF1F1"/>
    <a:srgbClr val="DA9C7C"/>
    <a:srgbClr val="002060"/>
    <a:srgbClr val="FF995B"/>
    <a:srgbClr val="0D2511"/>
    <a:srgbClr val="C5D1D9"/>
    <a:srgbClr val="93ABBF"/>
    <a:srgbClr val="3A5D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FDEA1-506A-DCD1-6D62-65A2CD70A5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E3B649-C470-950C-F072-63C35B1BB0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968A8-43E4-D46B-3EF2-A3C2CFAB3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DFBDA-2537-498D-99A5-9004CF4BD826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36C08-E6FB-C9E2-5D86-C40065BA8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4B399-5470-3C8F-459D-AED8AFE9D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7FA87-5B33-4809-A751-AFF5336624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868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4950C-E02E-9665-25A1-BA8882EED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ACC96-0482-885A-78BF-CE61BF92C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16801-4E3D-2404-6B82-AAFE18BF7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DFBDA-2537-498D-99A5-9004CF4BD826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E2178-8CFE-7477-DC0E-91C45A7FF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949F7-0361-578F-9ED8-F82242059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7FA87-5B33-4809-A751-AFF5336624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674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D669B-1897-1D06-8392-F44BE6879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BC8AEA-0AA1-5DF5-3442-038586C7B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9E3E2-540C-71F9-9EEE-63FBCEBEA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DFBDA-2537-498D-99A5-9004CF4BD826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CB2F7-DBF2-58B0-2277-98C830E15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AA6EE-DE58-DA0F-B534-72A48956D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7FA87-5B33-4809-A751-AFF5336624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143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145DA-782F-AF8F-1528-DFAF63C18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20A23-F479-0B61-0833-304CC142CA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AB502E-E411-A47B-EB56-48B80580B4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8EA020-238D-961F-0F47-BC3977E4C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DFBDA-2537-498D-99A5-9004CF4BD826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A9BAA1-7409-2376-FE56-776A04E8E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18C2DA-4E9D-767C-004C-763D0914B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7FA87-5B33-4809-A751-AFF5336624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204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FCE9C-33F7-1ACD-ACC3-14A17FB72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37A84D-7FBB-9D0D-1DCA-816ABA0E6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77BA03-3EC5-65B5-1FC8-2F53065B53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AD86B3-8E85-22E3-5221-A66241132D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45D004-FC86-3949-F080-8554A7C5ED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61A233-E05B-23D4-4FBC-376C8A766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DFBDA-2537-498D-99A5-9004CF4BD826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04C9B6-0BB0-59C3-07E0-FE95707C6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3D2F4D-E06B-5BEC-8303-CED652E28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7FA87-5B33-4809-A751-AFF5336624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757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E96BE-BF20-B5F2-CCF3-685520136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F21A20-AD7F-65AD-007F-52C8BDA73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DFBDA-2537-498D-99A5-9004CF4BD826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605B9-F0A3-465F-D34A-02AE52C40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861B3B-52FC-F07B-8BBE-30EB39628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7FA87-5B33-4809-A751-AFF5336624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0195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92D966-A45D-A88A-75BF-CEC199801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DFBDA-2537-498D-99A5-9004CF4BD826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0BA0D2-DB60-8CA2-D588-E7E242A1A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0FE46A-316D-7CE0-9A92-A6AEBD53C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7FA87-5B33-4809-A751-AFF5336624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8799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44CBC-D79E-0AB2-E54F-D37E3C195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A6DBF-680F-CFA0-CB56-47444999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3241F6-A57B-0C48-B9E6-09D724D21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B3CC90-83F1-CDFC-3792-F6A7CD074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DFBDA-2537-498D-99A5-9004CF4BD826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D85CDB-ECD0-AB49-E6D1-AB4618924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DC6260-ACE1-C00B-CE51-95F7FE8EE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7FA87-5B33-4809-A751-AFF5336624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1897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C4D53-9CE7-83F9-11E8-F76F272A0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5DD7C4-3FC1-BE8F-783C-FEAD187860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3C0F88-9D97-0ADF-5F79-CB9A7A5FC6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565316-C659-8AA2-1ECD-31257DDDE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DFBDA-2537-498D-99A5-9004CF4BD826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E142A-5C30-B79E-47CA-AF5EB83AF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7BDA33-ADFF-3693-2072-8B6B9B0E1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7FA87-5B33-4809-A751-AFF5336624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272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57768-282D-61F1-CCFD-6E143B496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C61E11-C4BB-15D4-74E1-704946F6C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40985-9CDB-D6B4-E5DA-9B1B06FEC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DFBDA-2537-498D-99A5-9004CF4BD826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7E42B-B077-4D8C-F7DD-66C41B6B6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3B993-8B51-0537-B035-07BEE55B6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7FA87-5B33-4809-A751-AFF5336624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055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8E47E9-99B4-D4A9-890A-1DC9060E54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B20024-7870-FBBB-14D5-55DC44719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8B1FB-0647-15A0-0DD0-562ACDB84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DFBDA-2537-498D-99A5-9004CF4BD826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8F978-2E9C-F245-0E4B-6F941DF90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54263-D79D-7698-3761-693E044B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7FA87-5B33-4809-A751-AFF5336624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817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759E4B-C6F2-39A3-1BD0-92251DA20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EAD40-7420-BC6F-6EAA-D476974E0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9A990-4938-EBB6-9637-2A557FB973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BDFBDA-2537-498D-99A5-9004CF4BD826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AC65D-BC5A-6964-6681-DFED7AADF3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3C5EB5-F869-18D6-C870-D15B39E391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7FA87-5B33-4809-A751-AFF5336624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045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373">
            <a:alpha val="79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F2A22B6-DD63-0F4F-6719-9ADA20169DCF}"/>
              </a:ext>
            </a:extLst>
          </p:cNvPr>
          <p:cNvSpPr/>
          <p:nvPr/>
        </p:nvSpPr>
        <p:spPr>
          <a:xfrm>
            <a:off x="220980" y="231055"/>
            <a:ext cx="11734800" cy="6493677"/>
          </a:xfrm>
          <a:prstGeom prst="roundRect">
            <a:avLst>
              <a:gd name="adj" fmla="val 4837"/>
            </a:avLst>
          </a:prstGeom>
          <a:solidFill>
            <a:srgbClr val="93AB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ADC9F2-B4E2-65FF-076E-319531642B40}"/>
              </a:ext>
            </a:extLst>
          </p:cNvPr>
          <p:cNvSpPr txBox="1"/>
          <p:nvPr/>
        </p:nvSpPr>
        <p:spPr>
          <a:xfrm>
            <a:off x="220980" y="692774"/>
            <a:ext cx="24880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spc="600" dirty="0">
                <a:latin typeface="Verdana" panose="020B0604030504040204" pitchFamily="34" charset="0"/>
                <a:ea typeface="Verdana" panose="020B0604030504040204" pitchFamily="34" charset="0"/>
              </a:rPr>
              <a:t>Airline Passenger </a:t>
            </a:r>
          </a:p>
          <a:p>
            <a:r>
              <a:rPr lang="en-IN" sz="1400" b="1" spc="600" dirty="0">
                <a:latin typeface="Verdana" panose="020B0604030504040204" pitchFamily="34" charset="0"/>
                <a:ea typeface="Verdana" panose="020B0604030504040204" pitchFamily="34" charset="0"/>
              </a:rPr>
              <a:t>Satisfaction Analysis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CFF036-5A80-9BE2-D93D-59D06BE265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503" y="294563"/>
            <a:ext cx="409087" cy="3760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20091EA-A823-DD27-28EA-0C0EDC2E17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734" y="1385507"/>
            <a:ext cx="223493" cy="223493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5452CBA-D230-F583-6E49-BDE28E7C2264}"/>
              </a:ext>
            </a:extLst>
          </p:cNvPr>
          <p:cNvSpPr/>
          <p:nvPr/>
        </p:nvSpPr>
        <p:spPr>
          <a:xfrm>
            <a:off x="2504897" y="360820"/>
            <a:ext cx="1720036" cy="665480"/>
          </a:xfrm>
          <a:prstGeom prst="roundRect">
            <a:avLst/>
          </a:prstGeom>
          <a:solidFill>
            <a:srgbClr val="C5D1D9">
              <a:alpha val="39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56FA0CE-56EB-7258-9135-8F2678727475}"/>
              </a:ext>
            </a:extLst>
          </p:cNvPr>
          <p:cNvSpPr/>
          <p:nvPr/>
        </p:nvSpPr>
        <p:spPr>
          <a:xfrm>
            <a:off x="2522186" y="1135179"/>
            <a:ext cx="1720036" cy="665480"/>
          </a:xfrm>
          <a:prstGeom prst="roundRect">
            <a:avLst/>
          </a:prstGeom>
          <a:solidFill>
            <a:srgbClr val="C5D1D9">
              <a:alpha val="39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087EA41-D9A8-08F8-A583-02F806349A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2396" y="480334"/>
            <a:ext cx="352052" cy="35205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2C76376-AB7C-9B96-CE85-DD7EBDBAB553}"/>
              </a:ext>
            </a:extLst>
          </p:cNvPr>
          <p:cNvSpPr txBox="1"/>
          <p:nvPr/>
        </p:nvSpPr>
        <p:spPr>
          <a:xfrm>
            <a:off x="3057788" y="393787"/>
            <a:ext cx="11671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rgbClr val="002060"/>
                </a:solidFill>
                <a:latin typeface="Segoe UI Semibold" panose="020B0702040204020203" pitchFamily="34" charset="0"/>
                <a:ea typeface="Verdana" panose="020B0604030504040204" pitchFamily="34" charset="0"/>
                <a:cs typeface="Segoe UI Semibold" panose="020B0702040204020203" pitchFamily="34" charset="0"/>
              </a:rPr>
              <a:t>Passenger</a:t>
            </a:r>
            <a:endParaRPr lang="en-IN" sz="1500" dirty="0">
              <a:solidFill>
                <a:srgbClr val="002060"/>
              </a:solidFill>
              <a:latin typeface="Segoe UI Semibold" panose="020B0702040204020203" pitchFamily="34" charset="0"/>
              <a:ea typeface="Verdana" panose="020B0604030504040204" pitchFamily="34" charset="0"/>
              <a:cs typeface="Segoe UI Semibold" panose="020B0702040204020203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A9BB0DD-0BD8-08F7-F30D-3701220910DE}"/>
              </a:ext>
            </a:extLst>
          </p:cNvPr>
          <p:cNvSpPr/>
          <p:nvPr/>
        </p:nvSpPr>
        <p:spPr>
          <a:xfrm>
            <a:off x="4372432" y="357584"/>
            <a:ext cx="3069768" cy="2253036"/>
          </a:xfrm>
          <a:prstGeom prst="roundRect">
            <a:avLst/>
          </a:prstGeom>
          <a:solidFill>
            <a:srgbClr val="C5D1D9">
              <a:alpha val="39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4A9B123-5B56-53DA-E2A3-3244820029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988" y="1116753"/>
            <a:ext cx="467826" cy="467826"/>
          </a:xfrm>
          <a:prstGeom prst="rect">
            <a:avLst/>
          </a:prstGeom>
        </p:spPr>
      </p:pic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C8D1BF9E-C1C4-3BBF-239C-81C777ED66BF}"/>
              </a:ext>
            </a:extLst>
          </p:cNvPr>
          <p:cNvSpPr/>
          <p:nvPr/>
        </p:nvSpPr>
        <p:spPr>
          <a:xfrm>
            <a:off x="2522186" y="1945139"/>
            <a:ext cx="1720036" cy="665480"/>
          </a:xfrm>
          <a:prstGeom prst="roundRect">
            <a:avLst/>
          </a:prstGeom>
          <a:solidFill>
            <a:srgbClr val="C5D1D9">
              <a:alpha val="39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83F2283-BE98-6B47-0B37-EE001AAE41FE}"/>
              </a:ext>
            </a:extLst>
          </p:cNvPr>
          <p:cNvSpPr txBox="1"/>
          <p:nvPr/>
        </p:nvSpPr>
        <p:spPr>
          <a:xfrm>
            <a:off x="2871381" y="1094548"/>
            <a:ext cx="14727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rgbClr val="002060"/>
                </a:solidFill>
                <a:latin typeface="Segoe UI Semibold" panose="020B0702040204020203" pitchFamily="34" charset="0"/>
                <a:ea typeface="Verdana" panose="020B0604030504040204" pitchFamily="34" charset="0"/>
                <a:cs typeface="Segoe UI Semibold" panose="020B0702040204020203" pitchFamily="34" charset="0"/>
              </a:rPr>
              <a:t>Avg. Departure </a:t>
            </a:r>
          </a:p>
          <a:p>
            <a:r>
              <a:rPr lang="en-IN" sz="1200" dirty="0">
                <a:solidFill>
                  <a:srgbClr val="002060"/>
                </a:solidFill>
                <a:latin typeface="Segoe UI Semibold" panose="020B0702040204020203" pitchFamily="34" charset="0"/>
                <a:ea typeface="Verdana" panose="020B0604030504040204" pitchFamily="34" charset="0"/>
                <a:cs typeface="Segoe UI Semibold" panose="020B0702040204020203" pitchFamily="34" charset="0"/>
              </a:rPr>
              <a:t>Dalay (Min)</a:t>
            </a:r>
            <a:endParaRPr lang="en-IN" sz="1400" dirty="0">
              <a:solidFill>
                <a:srgbClr val="002060"/>
              </a:solidFill>
              <a:latin typeface="Segoe UI Semibold" panose="020B0702040204020203" pitchFamily="34" charset="0"/>
              <a:ea typeface="Verdana" panose="020B0604030504040204" pitchFamily="34" charset="0"/>
              <a:cs typeface="Segoe UI Semibold" panose="020B0702040204020203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5FAFD22-D880-C90E-D3CD-178C0E871F6D}"/>
              </a:ext>
            </a:extLst>
          </p:cNvPr>
          <p:cNvSpPr txBox="1"/>
          <p:nvPr/>
        </p:nvSpPr>
        <p:spPr>
          <a:xfrm>
            <a:off x="2871381" y="1904508"/>
            <a:ext cx="13900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rgbClr val="002060"/>
                </a:solidFill>
                <a:latin typeface="Segoe UI Semibold" panose="020B0702040204020203" pitchFamily="34" charset="0"/>
                <a:ea typeface="Verdana" panose="020B0604030504040204" pitchFamily="34" charset="0"/>
                <a:cs typeface="Segoe UI Semibold" panose="020B0702040204020203" pitchFamily="34" charset="0"/>
              </a:rPr>
              <a:t>Avg. Arrival </a:t>
            </a:r>
          </a:p>
          <a:p>
            <a:r>
              <a:rPr lang="en-IN" sz="1200" dirty="0">
                <a:solidFill>
                  <a:srgbClr val="002060"/>
                </a:solidFill>
                <a:latin typeface="Segoe UI Semibold" panose="020B0702040204020203" pitchFamily="34" charset="0"/>
                <a:ea typeface="Verdana" panose="020B0604030504040204" pitchFamily="34" charset="0"/>
                <a:cs typeface="Segoe UI Semibold" panose="020B0702040204020203" pitchFamily="34" charset="0"/>
              </a:rPr>
              <a:t>Dalay (Min)</a:t>
            </a:r>
            <a:endParaRPr lang="en-IN" sz="1400" dirty="0">
              <a:solidFill>
                <a:srgbClr val="002060"/>
              </a:solidFill>
              <a:latin typeface="Segoe UI Semibold" panose="020B0702040204020203" pitchFamily="34" charset="0"/>
              <a:ea typeface="Verdana" panose="020B0604030504040204" pitchFamily="34" charset="0"/>
              <a:cs typeface="Segoe UI Semibold" panose="020B0702040204020203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B9343AB-88C5-C0EF-8E90-440C3CE3D9E4}"/>
              </a:ext>
            </a:extLst>
          </p:cNvPr>
          <p:cNvSpPr txBox="1"/>
          <p:nvPr/>
        </p:nvSpPr>
        <p:spPr>
          <a:xfrm>
            <a:off x="5259063" y="414750"/>
            <a:ext cx="16738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rgbClr val="002060"/>
                </a:solidFill>
                <a:latin typeface="Segoe UI Semibold" panose="020B0702040204020203" pitchFamily="34" charset="0"/>
                <a:ea typeface="Verdana" panose="020B0604030504040204" pitchFamily="34" charset="0"/>
                <a:cs typeface="Segoe UI Semibold" panose="020B0702040204020203" pitchFamily="34" charset="0"/>
              </a:rPr>
              <a:t>Gender Bifurcation</a:t>
            </a:r>
            <a:endParaRPr lang="en-IN" sz="1500" dirty="0">
              <a:solidFill>
                <a:srgbClr val="002060"/>
              </a:solidFill>
              <a:latin typeface="Segoe UI Semibold" panose="020B0702040204020203" pitchFamily="34" charset="0"/>
              <a:ea typeface="Verdana" panose="020B0604030504040204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ECCF5FEA-461D-8E9A-2F25-73F1BA5CF2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8985" y="458676"/>
            <a:ext cx="189145" cy="189145"/>
          </a:xfrm>
          <a:prstGeom prst="rect">
            <a:avLst/>
          </a:prstGeom>
        </p:spPr>
      </p:pic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F63AC1A0-7C25-4DA7-16A0-A18F5016915E}"/>
              </a:ext>
            </a:extLst>
          </p:cNvPr>
          <p:cNvSpPr/>
          <p:nvPr/>
        </p:nvSpPr>
        <p:spPr>
          <a:xfrm>
            <a:off x="4523268" y="1675247"/>
            <a:ext cx="2730971" cy="867346"/>
          </a:xfrm>
          <a:prstGeom prst="roundRect">
            <a:avLst/>
          </a:prstGeom>
          <a:solidFill>
            <a:srgbClr val="FF995B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7055FF9D-EC77-EE68-1929-7DB53CA31715}"/>
              </a:ext>
            </a:extLst>
          </p:cNvPr>
          <p:cNvSpPr/>
          <p:nvPr/>
        </p:nvSpPr>
        <p:spPr>
          <a:xfrm>
            <a:off x="4501598" y="745723"/>
            <a:ext cx="2752641" cy="867346"/>
          </a:xfrm>
          <a:prstGeom prst="roundRect">
            <a:avLst/>
          </a:prstGeom>
          <a:solidFill>
            <a:srgbClr val="FF995B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8A147608-C24D-C22F-67E1-7800CAD523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009" y="1782844"/>
            <a:ext cx="183600" cy="18360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B4F87E4D-8587-1CCD-D4A3-E0B1824F6A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007" y="848047"/>
            <a:ext cx="183602" cy="183602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AA1DF821-98A2-513B-F942-5275F924A195}"/>
              </a:ext>
            </a:extLst>
          </p:cNvPr>
          <p:cNvSpPr txBox="1"/>
          <p:nvPr/>
        </p:nvSpPr>
        <p:spPr>
          <a:xfrm>
            <a:off x="4722809" y="782141"/>
            <a:ext cx="6206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0D2511"/>
                </a:solidFill>
                <a:latin typeface="Segoe UI Semibold" panose="020B0702040204020203" pitchFamily="34" charset="0"/>
                <a:ea typeface="Verdana" panose="020B0604030504040204" pitchFamily="34" charset="0"/>
                <a:cs typeface="Segoe UI Semibold" panose="020B0702040204020203" pitchFamily="34" charset="0"/>
              </a:rPr>
              <a:t>Male</a:t>
            </a:r>
            <a:endParaRPr lang="en-IN" dirty="0">
              <a:solidFill>
                <a:srgbClr val="0D2511"/>
              </a:solidFill>
              <a:latin typeface="Segoe UI Semibold" panose="020B0702040204020203" pitchFamily="34" charset="0"/>
              <a:ea typeface="Verdana" panose="020B0604030504040204" pitchFamily="34" charset="0"/>
              <a:cs typeface="Segoe UI Semibold" panose="020B0702040204020203" pitchFamily="34" charset="0"/>
            </a:endParaRP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99714FCA-E8BA-3225-6C94-9F1B2298BA4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988" y="1967186"/>
            <a:ext cx="468000" cy="468000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B5F889F8-A326-7D87-8F33-27D699AE414E}"/>
              </a:ext>
            </a:extLst>
          </p:cNvPr>
          <p:cNvSpPr txBox="1"/>
          <p:nvPr/>
        </p:nvSpPr>
        <p:spPr>
          <a:xfrm>
            <a:off x="4737471" y="1712299"/>
            <a:ext cx="7987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0D2511"/>
                </a:solidFill>
                <a:latin typeface="Segoe UI Semibold" panose="020B0702040204020203" pitchFamily="34" charset="0"/>
                <a:ea typeface="Verdana" panose="020B0604030504040204" pitchFamily="34" charset="0"/>
                <a:cs typeface="Segoe UI Semibold" panose="020B0702040204020203" pitchFamily="34" charset="0"/>
              </a:rPr>
              <a:t>Female</a:t>
            </a:r>
            <a:endParaRPr lang="en-IN" dirty="0">
              <a:solidFill>
                <a:srgbClr val="0D2511"/>
              </a:solidFill>
              <a:latin typeface="Segoe UI Semibold" panose="020B0702040204020203" pitchFamily="34" charset="0"/>
              <a:ea typeface="Verdana" panose="020B0604030504040204" pitchFamily="34" charset="0"/>
              <a:cs typeface="Segoe UI Semibold" panose="020B0702040204020203" pitchFamily="34" charset="0"/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D0CBA3D3-B1C5-F7A3-426E-CB316A280D7B}"/>
              </a:ext>
            </a:extLst>
          </p:cNvPr>
          <p:cNvSpPr/>
          <p:nvPr/>
        </p:nvSpPr>
        <p:spPr>
          <a:xfrm>
            <a:off x="7656403" y="369729"/>
            <a:ext cx="4051549" cy="732335"/>
          </a:xfrm>
          <a:prstGeom prst="roundRect">
            <a:avLst/>
          </a:prstGeom>
          <a:solidFill>
            <a:srgbClr val="C5D1D9">
              <a:alpha val="39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4BE9F2C-409F-E37C-FF99-5B207E180F15}"/>
              </a:ext>
            </a:extLst>
          </p:cNvPr>
          <p:cNvSpPr txBox="1"/>
          <p:nvPr/>
        </p:nvSpPr>
        <p:spPr>
          <a:xfrm>
            <a:off x="9011914" y="363388"/>
            <a:ext cx="21386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rgbClr val="002060"/>
                </a:solidFill>
                <a:latin typeface="Segoe UI Semibold" panose="020B0702040204020203" pitchFamily="34" charset="0"/>
                <a:ea typeface="Verdana" panose="020B0604030504040204" pitchFamily="34" charset="0"/>
                <a:cs typeface="Segoe UI Semibold" panose="020B0702040204020203" pitchFamily="34" charset="0"/>
              </a:rPr>
              <a:t>Average Satisfaction Rating</a:t>
            </a:r>
            <a:endParaRPr lang="en-IN" sz="1500" dirty="0">
              <a:solidFill>
                <a:srgbClr val="002060"/>
              </a:solidFill>
              <a:latin typeface="Segoe UI Semibold" panose="020B0702040204020203" pitchFamily="34" charset="0"/>
              <a:ea typeface="Verdana" panose="020B0604030504040204" pitchFamily="34" charset="0"/>
              <a:cs typeface="Segoe UI Semibold" panose="020B0702040204020203" pitchFamily="34" charset="0"/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7FB44241-0479-5BF9-C8E7-F08752C2812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1362" y="401136"/>
            <a:ext cx="214202" cy="214202"/>
          </a:xfrm>
          <a:prstGeom prst="rect">
            <a:avLst/>
          </a:prstGeom>
        </p:spPr>
      </p:pic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797F43B1-7EED-399A-70E7-5F56DE29E2A8}"/>
              </a:ext>
            </a:extLst>
          </p:cNvPr>
          <p:cNvSpPr/>
          <p:nvPr/>
        </p:nvSpPr>
        <p:spPr>
          <a:xfrm>
            <a:off x="7644040" y="1190512"/>
            <a:ext cx="4051549" cy="1475440"/>
          </a:xfrm>
          <a:prstGeom prst="roundRect">
            <a:avLst/>
          </a:prstGeom>
          <a:solidFill>
            <a:srgbClr val="C5D1D9">
              <a:alpha val="39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D730D1B-A075-05B1-FF94-A077F3B00E53}"/>
              </a:ext>
            </a:extLst>
          </p:cNvPr>
          <p:cNvSpPr txBox="1"/>
          <p:nvPr/>
        </p:nvSpPr>
        <p:spPr>
          <a:xfrm>
            <a:off x="9064412" y="1206099"/>
            <a:ext cx="21386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rgbClr val="002060"/>
                </a:solidFill>
                <a:latin typeface="Segoe UI Semibold" panose="020B0702040204020203" pitchFamily="34" charset="0"/>
                <a:ea typeface="Verdana" panose="020B0604030504040204" pitchFamily="34" charset="0"/>
                <a:cs typeface="Segoe UI Semibold" panose="020B0702040204020203" pitchFamily="34" charset="0"/>
              </a:rPr>
              <a:t>Count by Satisfaction Scale</a:t>
            </a:r>
            <a:endParaRPr lang="en-IN" sz="1500" dirty="0">
              <a:solidFill>
                <a:srgbClr val="002060"/>
              </a:solidFill>
              <a:latin typeface="Segoe UI Semibold" panose="020B0702040204020203" pitchFamily="34" charset="0"/>
              <a:ea typeface="Verdana" panose="020B0604030504040204" pitchFamily="34" charset="0"/>
              <a:cs typeface="Segoe UI Semibold" panose="020B0702040204020203" pitchFamily="34" charset="0"/>
            </a:endParaRP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5BC9CAF3-74A4-4223-19CE-ADDC88F2EAD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5562" y="1132463"/>
            <a:ext cx="461665" cy="461665"/>
          </a:xfrm>
          <a:prstGeom prst="rect">
            <a:avLst/>
          </a:prstGeom>
        </p:spPr>
      </p:pic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BD9C069A-28E9-CA0C-B134-5D98C10E9830}"/>
              </a:ext>
            </a:extLst>
          </p:cNvPr>
          <p:cNvSpPr/>
          <p:nvPr/>
        </p:nvSpPr>
        <p:spPr>
          <a:xfrm>
            <a:off x="391887" y="2777145"/>
            <a:ext cx="3869534" cy="3786291"/>
          </a:xfrm>
          <a:prstGeom prst="roundRect">
            <a:avLst>
              <a:gd name="adj" fmla="val 9679"/>
            </a:avLst>
          </a:prstGeom>
          <a:solidFill>
            <a:srgbClr val="C5D1D9">
              <a:alpha val="39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E7B929D-B9F4-A3C1-FE7B-6B4E34FBB32F}"/>
              </a:ext>
            </a:extLst>
          </p:cNvPr>
          <p:cNvSpPr txBox="1"/>
          <p:nvPr/>
        </p:nvSpPr>
        <p:spPr>
          <a:xfrm>
            <a:off x="2437019" y="2818406"/>
            <a:ext cx="16738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rgbClr val="002060"/>
                </a:solidFill>
                <a:latin typeface="Segoe UI Semibold" panose="020B0702040204020203" pitchFamily="34" charset="0"/>
                <a:ea typeface="Verdana" panose="020B0604030504040204" pitchFamily="34" charset="0"/>
                <a:cs typeface="Segoe UI Semibold" panose="020B0702040204020203" pitchFamily="34" charset="0"/>
              </a:rPr>
              <a:t>Travel by Age-Group</a:t>
            </a:r>
            <a:endParaRPr lang="en-IN" sz="1500" dirty="0">
              <a:solidFill>
                <a:srgbClr val="002060"/>
              </a:solidFill>
              <a:latin typeface="Segoe UI Semibold" panose="020B0702040204020203" pitchFamily="34" charset="0"/>
              <a:ea typeface="Verdana" panose="020B0604030504040204" pitchFamily="34" charset="0"/>
              <a:cs typeface="Segoe UI Semibold" panose="020B0702040204020203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15FEDF0-1D2F-FA03-B17D-F006F79A3C56}"/>
              </a:ext>
            </a:extLst>
          </p:cNvPr>
          <p:cNvSpPr txBox="1"/>
          <p:nvPr/>
        </p:nvSpPr>
        <p:spPr>
          <a:xfrm>
            <a:off x="706672" y="2818266"/>
            <a:ext cx="16738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rgbClr val="002060"/>
                </a:solidFill>
                <a:latin typeface="Segoe UI Semibold" panose="020B0702040204020203" pitchFamily="34" charset="0"/>
                <a:ea typeface="Verdana" panose="020B0604030504040204" pitchFamily="34" charset="0"/>
                <a:cs typeface="Segoe UI Semibold" panose="020B0702040204020203" pitchFamily="34" charset="0"/>
              </a:rPr>
              <a:t>Travel by Class</a:t>
            </a:r>
            <a:endParaRPr lang="en-IN" sz="1500" dirty="0">
              <a:solidFill>
                <a:srgbClr val="002060"/>
              </a:solidFill>
              <a:latin typeface="Segoe UI Semibold" panose="020B0702040204020203" pitchFamily="34" charset="0"/>
              <a:ea typeface="Verdana" panose="020B0604030504040204" pitchFamily="34" charset="0"/>
              <a:cs typeface="Segoe UI Semibold" panose="020B0702040204020203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F44E583-5FC3-08DD-377A-17B7053D185F}"/>
              </a:ext>
            </a:extLst>
          </p:cNvPr>
          <p:cNvSpPr txBox="1"/>
          <p:nvPr/>
        </p:nvSpPr>
        <p:spPr>
          <a:xfrm>
            <a:off x="703002" y="4637444"/>
            <a:ext cx="1272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rgbClr val="002060"/>
                </a:solidFill>
                <a:latin typeface="Segoe UI Semibold" panose="020B0702040204020203" pitchFamily="34" charset="0"/>
                <a:ea typeface="Verdana" panose="020B0604030504040204" pitchFamily="34" charset="0"/>
                <a:cs typeface="Segoe UI Semibold" panose="020B0702040204020203" pitchFamily="34" charset="0"/>
              </a:rPr>
              <a:t>Type of Flight</a:t>
            </a:r>
            <a:endParaRPr lang="en-IN" sz="1500" dirty="0">
              <a:solidFill>
                <a:srgbClr val="002060"/>
              </a:solidFill>
              <a:latin typeface="Segoe UI Semibold" panose="020B0702040204020203" pitchFamily="34" charset="0"/>
              <a:ea typeface="Verdana" panose="020B0604030504040204" pitchFamily="34" charset="0"/>
              <a:cs typeface="Segoe UI Semibold" panose="020B0702040204020203" pitchFamily="34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2B825B1-54B2-4CEE-A8FF-951FAE7032AA}"/>
              </a:ext>
            </a:extLst>
          </p:cNvPr>
          <p:cNvSpPr txBox="1"/>
          <p:nvPr/>
        </p:nvSpPr>
        <p:spPr>
          <a:xfrm>
            <a:off x="2315455" y="4636508"/>
            <a:ext cx="19170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rgbClr val="002060"/>
                </a:solidFill>
                <a:latin typeface="Segoe UI Semibold" panose="020B0702040204020203" pitchFamily="34" charset="0"/>
                <a:ea typeface="Verdana" panose="020B0604030504040204" pitchFamily="34" charset="0"/>
                <a:cs typeface="Segoe UI Semibold" panose="020B0702040204020203" pitchFamily="34" charset="0"/>
              </a:rPr>
              <a:t>0-3 Satisfaction by Age </a:t>
            </a:r>
            <a:endParaRPr lang="en-IN" sz="1500" dirty="0">
              <a:solidFill>
                <a:srgbClr val="002060"/>
              </a:solidFill>
              <a:latin typeface="Segoe UI Semibold" panose="020B0702040204020203" pitchFamily="34" charset="0"/>
              <a:ea typeface="Verdana" panose="020B0604030504040204" pitchFamily="34" charset="0"/>
              <a:cs typeface="Segoe UI Semibold" panose="020B0702040204020203" pitchFamily="34" charset="0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4CC9068-F752-6691-325B-AB8D834AE477}"/>
              </a:ext>
            </a:extLst>
          </p:cNvPr>
          <p:cNvSpPr/>
          <p:nvPr/>
        </p:nvSpPr>
        <p:spPr>
          <a:xfrm>
            <a:off x="2247461" y="2840711"/>
            <a:ext cx="45719" cy="3560113"/>
          </a:xfrm>
          <a:prstGeom prst="rect">
            <a:avLst/>
          </a:prstGeom>
          <a:solidFill>
            <a:srgbClr val="EEF1F1">
              <a:alpha val="8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6611004C-399E-932E-D619-6AF8D61D9B33}"/>
              </a:ext>
            </a:extLst>
          </p:cNvPr>
          <p:cNvSpPr/>
          <p:nvPr/>
        </p:nvSpPr>
        <p:spPr>
          <a:xfrm rot="5400000">
            <a:off x="2303794" y="2754886"/>
            <a:ext cx="45719" cy="3560113"/>
          </a:xfrm>
          <a:prstGeom prst="rect">
            <a:avLst/>
          </a:prstGeom>
          <a:solidFill>
            <a:srgbClr val="EEF1F1">
              <a:alpha val="8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B1F5A77F-F199-2E16-8A2D-B4356CF25A3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742" y="2057853"/>
            <a:ext cx="293457" cy="29345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4289063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43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Segoe UI Semibold</vt:lpstr>
      <vt:lpstr>Verdana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Krutik Dhabaliya</dc:creator>
  <cp:lastModifiedBy>Krutik Dhabaliya</cp:lastModifiedBy>
  <cp:revision>20</cp:revision>
  <dcterms:created xsi:type="dcterms:W3CDTF">2026-01-10T12:22:39Z</dcterms:created>
  <dcterms:modified xsi:type="dcterms:W3CDTF">2026-01-12T10:37:56Z</dcterms:modified>
</cp:coreProperties>
</file>